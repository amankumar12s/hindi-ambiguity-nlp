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456" r:id="rId3"/>
    <p:sldId id="470" r:id="rId4"/>
    <p:sldId id="262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9" r:id="rId13"/>
    <p:sldId id="465" r:id="rId14"/>
    <p:sldId id="466" r:id="rId15"/>
    <p:sldId id="467" r:id="rId16"/>
    <p:sldId id="4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BFA26-3C35-43CA-84B4-EFE4FC5EF959}" v="170" dt="2025-10-15T18:20:44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691203248031495"/>
          <c:y val="0.11186718061840668"/>
          <c:w val="0.77793565452755908"/>
          <c:h val="0.758826478910772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Time Ambiguity</c:v>
                </c:pt>
                <c:pt idx="1">
                  <c:v>Object-Action</c:v>
                </c:pt>
                <c:pt idx="2">
                  <c:v>Hinglish</c:v>
                </c:pt>
                <c:pt idx="3">
                  <c:v>Idiom</c:v>
                </c:pt>
                <c:pt idx="4">
                  <c:v>Morphological</c:v>
                </c:pt>
                <c:pt idx="5">
                  <c:v>Syntactic</c:v>
                </c:pt>
                <c:pt idx="6">
                  <c:v>Pragmatic</c:v>
                </c:pt>
                <c:pt idx="7">
                  <c:v>Pronoun</c:v>
                </c:pt>
                <c:pt idx="8">
                  <c:v>Sarcasm</c:v>
                </c:pt>
                <c:pt idx="9">
                  <c:v>Place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133</c:v>
                </c:pt>
                <c:pt idx="1">
                  <c:v>112</c:v>
                </c:pt>
                <c:pt idx="2">
                  <c:v>110</c:v>
                </c:pt>
                <c:pt idx="3">
                  <c:v>108</c:v>
                </c:pt>
                <c:pt idx="4">
                  <c:v>101</c:v>
                </c:pt>
                <c:pt idx="5">
                  <c:v>96</c:v>
                </c:pt>
                <c:pt idx="6">
                  <c:v>90</c:v>
                </c:pt>
                <c:pt idx="7">
                  <c:v>85</c:v>
                </c:pt>
                <c:pt idx="8">
                  <c:v>85</c:v>
                </c:pt>
                <c:pt idx="9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5-416B-B487-5C7DCE55D0D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244293856"/>
        <c:axId val="1244285216"/>
      </c:barChart>
      <c:catAx>
        <c:axId val="1244293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285216"/>
        <c:crosses val="autoZero"/>
        <c:auto val="1"/>
        <c:lblAlgn val="ctr"/>
        <c:lblOffset val="100"/>
        <c:noMultiLvlLbl val="0"/>
      </c:catAx>
      <c:valAx>
        <c:axId val="1244285216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293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606E2-5E20-4BB4-A72A-8C5FEB176543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7DBC1-CB5D-4553-882D-F87B8C47A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34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QoS aware Named Data Wireless Sensor Network</a:t>
            </a:r>
          </a:p>
          <a:p>
            <a:r>
              <a:rPr lang="en-US"/>
              <a:t>Department of Computer Science and Engineering</a:t>
            </a:r>
          </a:p>
          <a:p>
            <a:r>
              <a:rPr lang="en-US"/>
              <a:t>Improving Security in Internet of Things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A6BFF-6982-16D4-0373-61F9ECD0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805DB3-6ABD-4FB3-DD9A-CA0E959439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3CD99-AFCC-9CAC-4A14-CEE25F1BED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95B4362-D3EF-E95F-2675-A1B26049AA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1F41C05-D075-4D3C-9AFA-E6E731EE4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QoS aware Named Data Wireless Sensor Network</a:t>
            </a:r>
          </a:p>
          <a:p>
            <a:r>
              <a:rPr lang="en-US"/>
              <a:t>Department of Computer Science and Engineering</a:t>
            </a:r>
          </a:p>
          <a:p>
            <a:r>
              <a:rPr lang="en-US"/>
              <a:t>Improving Security in Internet of Things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00D38-F7F6-B600-61F6-773B2B4A43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2E5AB-085C-708C-D7AA-59DF7AC60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4117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TextShape 2"/>
          <p:cNvSpPr txBox="1"/>
          <p:nvPr/>
        </p:nvSpPr>
        <p:spPr>
          <a:xfrm>
            <a:off x="0" y="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1200" strike="noStrike">
                <a:solidFill>
                  <a:srgbClr val="000000"/>
                </a:solidFill>
                <a:latin typeface="+mn-lt"/>
                <a:ea typeface="+mn-ea"/>
              </a:rPr>
              <a:t>QoS aware Named Data Wireless Sensor Network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US" sz="1400">
                <a:latin typeface="Times New Roman"/>
              </a:rPr>
              <a:t>Department of Computer Science and Engineering</a:t>
            </a:r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idx="11"/>
          </p:nvPr>
        </p:nvSpPr>
        <p:spPr/>
        <p:txBody>
          <a:bodyPr/>
          <a:lstStyle/>
          <a:p>
            <a:r>
              <a:rPr lang="en-US" sz="1400">
                <a:latin typeface="Times New Roman"/>
              </a:rPr>
              <a:t>Improving Security in Internet of Things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3145-0C99-C2B6-B4F8-FF0C18EE2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8BD41-B227-7B56-4629-89F405714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85EEE-5D8A-0859-F037-E4AB8BC6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8FFA5-4BEA-3C93-8853-23739B09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01FE6-B7D3-553F-7DE3-E74839D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40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B868-91B4-8658-958F-D815B080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7684D-1AC5-B839-BE26-B7E8C447C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AE0E2-7BED-7C08-08C1-248738DE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781DD-9E30-A7D0-4507-7F9D3366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0C180-4B1C-2410-E412-E45534C8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255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0FDC6-67C3-E263-4F71-23D54292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B9159-ED96-A917-8A3D-CF28B8D2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CB73D-144F-C10D-12B9-C7FE2768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69317-00D0-947B-2D3A-F4EAD9E5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78F9-158C-A719-9D3F-952685DE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415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C951-1E0D-A38F-1A52-A506F1F1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947F3-AC25-72FE-E34E-0186BA5E4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31E8E-E93A-8FB8-1779-BE8104024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EEBF4-A5D1-74A6-1350-D395F6FE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1B2EB-E014-07EE-8C24-1154521A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B0AC5-DF76-2E5A-D44C-E43DCA4C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156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801C6-4B7F-7D87-28A8-2293C8E1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59D28-F971-3691-F8A4-808F55BAE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FEB63-44B7-EEE4-1CE5-3A61670C5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2800A-F36C-6477-5B8C-C227F7741A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C6447-B37B-3904-69BA-E975FD45B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3F367-08AA-6299-5867-DACBA8A0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EF16E7-6E96-3AA5-8ACD-321FC1A9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B3E0A-A41E-41BF-B7C2-14B3045F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70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CBA1-C66E-0ADF-3AE5-7F87CFC3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53765-CDE3-B204-72B5-E91679B7F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A2A2C-24F4-F675-1BCA-1ED78796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2B48F-C456-3D18-035D-F3E27DCF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93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8F11ED-6B19-2BA0-21A6-48D315F3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2C2F5-E35C-FFCC-CE53-CDF6A99F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12C68-704D-3DAC-5775-AF05FA29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05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713A-24F6-7C7E-31A4-062E7A4F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5F855-B94B-0B62-0729-F761B3E5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44B91-EA7F-CED6-E27E-E1C4328AB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30C41-B1FD-985D-17B1-830D8B20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6E438-69AE-85E8-428B-AB48688E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9CF58-A0AB-A682-D7CF-46095DDC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53F0-FDA8-738E-8806-2B074BD7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82518C-65E9-A2E5-A864-3E46B19F4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B78F0-948F-FFE0-A198-D19CBE9C6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D167A-AD40-C2F7-D7A8-72B5482A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09CA6-518E-9C6C-FEBA-F990D548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9327F-08A5-FC54-BE47-5DB78C2E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283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73D8-F1CC-FE1E-F498-7F74237CD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804D0-E1D9-27CB-813F-1C9BF3BA1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5BED3-BC15-6336-011E-A9C6F2D6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72F6D-36A8-4E68-FC5E-3B7C5275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FF6B6-5B70-617C-FC8D-ABAB8C0D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83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7E4B58-13D7-04A9-5633-80CDF5414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596AC-6394-5A73-AC47-39BBE7CBC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B3E69-A62F-F12B-C577-53253946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61530-345A-93E0-9600-2D43D464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107D0-4681-DBBE-0D45-FDDE16CE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467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9A3789-2ED6-3C15-21D7-4E97DB0C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6BC49-5AA9-DAA2-CF81-3C87DD778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2EB75-6522-6C59-40C0-146BD577B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9FA56-CE40-4FE9-A856-70D5201135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8D3A7-0967-F8C7-83F6-D6000CAE8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3C9F2-6B78-7DBD-B4B7-76886E8D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95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ggingface/peft" TargetMode="External"/><Relationship Id="rId2" Type="http://schemas.openxmlformats.org/officeDocument/2006/relationships/hyperlink" Target="https://huggingface.co/Qwen/Qwen2.5-0.5B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ayushanand1009/hindi-ambiguity-resolution" TargetMode="External"/><Relationship Id="rId4" Type="http://schemas.openxmlformats.org/officeDocument/2006/relationships/hyperlink" Target="https://github.com/huggingface/tr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46649" y="380880"/>
            <a:ext cx="1153351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50000"/>
              </a:lnSpc>
            </a:pP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Hindi Ambiguity Resolution using Large Language Models</a:t>
            </a:r>
          </a:p>
        </p:txBody>
      </p:sp>
      <p:sp>
        <p:nvSpPr>
          <p:cNvPr id="85" name="CustomShape 2"/>
          <p:cNvSpPr/>
          <p:nvPr/>
        </p:nvSpPr>
        <p:spPr>
          <a:xfrm>
            <a:off x="481781" y="3657601"/>
            <a:ext cx="11198385" cy="24383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:-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AYUSH ANAND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202300188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(CD306A1) Text Analytics &amp; </a:t>
            </a:r>
            <a:r>
              <a:rPr lang="en-IN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Natutral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Language Processing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AI&amp;DS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SMIT, SMU</a:t>
            </a:r>
          </a:p>
          <a:p>
            <a:pPr algn="ctr">
              <a:lnSpc>
                <a:spcPct val="100000"/>
              </a:lnSpc>
            </a:pPr>
            <a:endParaRPr lang="en-I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ack text on a white background  Description automatically generated">
            <a:extLst>
              <a:ext uri="{FF2B5EF4-FFF2-40B4-BE49-F238E27FC236}">
                <a16:creationId xmlns:a16="http://schemas.microsoft.com/office/drawing/2014/main" id="{BB2DE5EB-342B-934C-107E-4FCBCB36D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988" y="1584208"/>
            <a:ext cx="5604022" cy="145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9711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38040" y="6387000"/>
            <a:ext cx="201144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0"/>
              </a:lnSpc>
            </a:pPr>
            <a:r>
              <a:rPr lang="en-US" sz="1200" spc="11">
                <a:solidFill>
                  <a:srgbClr val="8B8B8B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04920" y="285480"/>
            <a:ext cx="9182160" cy="39960"/>
            <a:chOff x="0" y="0"/>
            <a:chExt cx="18364320" cy="79920"/>
          </a:xfrm>
        </p:grpSpPr>
        <p:sp>
          <p:nvSpPr>
            <p:cNvPr id="4" name="Freeform 4"/>
            <p:cNvSpPr/>
            <p:nvPr/>
          </p:nvSpPr>
          <p:spPr>
            <a:xfrm>
              <a:off x="38100" y="0"/>
              <a:ext cx="18288127" cy="79883"/>
            </a:xfrm>
            <a:custGeom>
              <a:avLst/>
              <a:gdLst/>
              <a:ahLst/>
              <a:cxnLst/>
              <a:rect l="l" t="t" r="r" b="b"/>
              <a:pathLst>
                <a:path w="18288127" h="79883">
                  <a:moveTo>
                    <a:pt x="127" y="0"/>
                  </a:moveTo>
                  <a:lnTo>
                    <a:pt x="18288127" y="3556"/>
                  </a:lnTo>
                  <a:lnTo>
                    <a:pt x="18288127" y="79883"/>
                  </a:lnTo>
                  <a:lnTo>
                    <a:pt x="0" y="76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20" y="6457680"/>
            <a:ext cx="9182160" cy="39960"/>
            <a:chOff x="0" y="0"/>
            <a:chExt cx="18364320" cy="79920"/>
          </a:xfrm>
        </p:grpSpPr>
        <p:sp>
          <p:nvSpPr>
            <p:cNvPr id="6" name="Freeform 6"/>
            <p:cNvSpPr/>
            <p:nvPr/>
          </p:nvSpPr>
          <p:spPr>
            <a:xfrm>
              <a:off x="38100" y="0"/>
              <a:ext cx="18288127" cy="79883"/>
            </a:xfrm>
            <a:custGeom>
              <a:avLst/>
              <a:gdLst/>
              <a:ahLst/>
              <a:cxnLst/>
              <a:rect l="l" t="t" r="r" b="b"/>
              <a:pathLst>
                <a:path w="18288127" h="79883">
                  <a:moveTo>
                    <a:pt x="127" y="0"/>
                  </a:moveTo>
                  <a:lnTo>
                    <a:pt x="18288127" y="3556"/>
                  </a:lnTo>
                  <a:lnTo>
                    <a:pt x="18288127" y="79883"/>
                  </a:lnTo>
                  <a:lnTo>
                    <a:pt x="0" y="76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24000" y="6492960"/>
            <a:ext cx="9143640" cy="364680"/>
            <a:chOff x="0" y="0"/>
            <a:chExt cx="18287280" cy="729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87237" cy="729361"/>
            </a:xfrm>
            <a:custGeom>
              <a:avLst/>
              <a:gdLst/>
              <a:ahLst/>
              <a:cxnLst/>
              <a:rect l="l" t="t" r="r" b="b"/>
              <a:pathLst>
                <a:path w="18287237" h="729361">
                  <a:moveTo>
                    <a:pt x="0" y="0"/>
                  </a:moveTo>
                  <a:lnTo>
                    <a:pt x="18287237" y="0"/>
                  </a:lnTo>
                  <a:lnTo>
                    <a:pt x="18287237" y="729361"/>
                  </a:lnTo>
                  <a:lnTo>
                    <a:pt x="0" y="729361"/>
                  </a:lnTo>
                  <a:close/>
                </a:path>
              </a:pathLst>
            </a:custGeom>
            <a:solidFill>
              <a:srgbClr val="D7E4B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8287280" cy="72936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 spc="11">
                  <a:solidFill>
                    <a:srgbClr val="8B8B8B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Department of AI&amp;DS</a:t>
              </a:r>
            </a:p>
            <a:p>
              <a:pPr>
                <a:lnSpc>
                  <a:spcPts val="1440"/>
                </a:lnSpc>
              </a:pPr>
              <a:r>
                <a:rPr lang="en-US" sz="1200" b="1" spc="11">
                  <a:solidFill>
                    <a:srgbClr val="8B8B8B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Sikkim Manipal Institute of Technology,  SMU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38354" y="153430"/>
            <a:ext cx="8500575" cy="127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0"/>
              </a:lnSpc>
            </a:pPr>
            <a:r>
              <a:rPr lang="en-US" sz="292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OF CONTENTS </a:t>
            </a:r>
          </a:p>
          <a:p>
            <a:pPr>
              <a:lnSpc>
                <a:spcPts val="5270"/>
              </a:lnSpc>
            </a:pPr>
            <a:endParaRPr lang="en-US" sz="2928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523970" y="5419"/>
            <a:ext cx="9156319" cy="285560"/>
            <a:chOff x="0" y="0"/>
            <a:chExt cx="18312637" cy="571119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18287238" cy="478536"/>
            </a:xfrm>
            <a:custGeom>
              <a:avLst/>
              <a:gdLst/>
              <a:ahLst/>
              <a:cxnLst/>
              <a:rect l="l" t="t" r="r" b="b"/>
              <a:pathLst>
                <a:path w="18287237" h="545719">
                  <a:moveTo>
                    <a:pt x="0" y="0"/>
                  </a:moveTo>
                  <a:lnTo>
                    <a:pt x="18287237" y="0"/>
                  </a:lnTo>
                  <a:lnTo>
                    <a:pt x="18287237" y="545719"/>
                  </a:lnTo>
                  <a:lnTo>
                    <a:pt x="0" y="545719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/>
            <a:lstStyle/>
            <a:p>
              <a:r>
                <a:rPr lang="en-US" sz="12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Hindi Ambiguity Resolution using Large Language Models   </a:t>
              </a:r>
              <a:endParaRPr lang="en-US" sz="1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N" dirty="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18312637" cy="571119"/>
            </a:xfrm>
            <a:custGeom>
              <a:avLst/>
              <a:gdLst/>
              <a:ahLst/>
              <a:cxnLst/>
              <a:rect l="l" t="t" r="r" b="b"/>
              <a:pathLst>
                <a:path w="18312637" h="571119">
                  <a:moveTo>
                    <a:pt x="12700" y="0"/>
                  </a:moveTo>
                  <a:lnTo>
                    <a:pt x="18299937" y="0"/>
                  </a:lnTo>
                  <a:cubicBezTo>
                    <a:pt x="18306923" y="0"/>
                    <a:pt x="18312637" y="5715"/>
                    <a:pt x="18312637" y="12700"/>
                  </a:cubicBezTo>
                  <a:lnTo>
                    <a:pt x="18312637" y="558419"/>
                  </a:lnTo>
                  <a:cubicBezTo>
                    <a:pt x="18312637" y="565404"/>
                    <a:pt x="18306923" y="571119"/>
                    <a:pt x="18299937" y="571119"/>
                  </a:cubicBezTo>
                  <a:lnTo>
                    <a:pt x="12700" y="571119"/>
                  </a:lnTo>
                  <a:cubicBezTo>
                    <a:pt x="5715" y="571119"/>
                    <a:pt x="0" y="565404"/>
                    <a:pt x="0" y="5584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58419"/>
                  </a:lnTo>
                  <a:lnTo>
                    <a:pt x="12700" y="558419"/>
                  </a:lnTo>
                  <a:lnTo>
                    <a:pt x="12700" y="545719"/>
                  </a:lnTo>
                  <a:lnTo>
                    <a:pt x="18299937" y="545719"/>
                  </a:lnTo>
                  <a:lnTo>
                    <a:pt x="18299937" y="558419"/>
                  </a:lnTo>
                  <a:lnTo>
                    <a:pt x="18287237" y="558419"/>
                  </a:lnTo>
                  <a:lnTo>
                    <a:pt x="18287237" y="12700"/>
                  </a:lnTo>
                  <a:lnTo>
                    <a:pt x="18299937" y="12700"/>
                  </a:lnTo>
                  <a:lnTo>
                    <a:pt x="1829993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AE5A21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868331" y="6512438"/>
            <a:ext cx="179766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</a:t>
            </a:r>
          </a:p>
        </p:txBody>
      </p:sp>
      <p:sp>
        <p:nvSpPr>
          <p:cNvPr id="15" name="Freeform 15" descr="A black text on a white background  Description automatically generated"/>
          <p:cNvSpPr/>
          <p:nvPr/>
        </p:nvSpPr>
        <p:spPr>
          <a:xfrm>
            <a:off x="9055566" y="6346711"/>
            <a:ext cx="1997990" cy="518271"/>
          </a:xfrm>
          <a:custGeom>
            <a:avLst/>
            <a:gdLst/>
            <a:ahLst/>
            <a:cxnLst/>
            <a:rect l="l" t="t" r="r" b="b"/>
            <a:pathLst>
              <a:path w="2996985" h="777406">
                <a:moveTo>
                  <a:pt x="0" y="0"/>
                </a:moveTo>
                <a:lnTo>
                  <a:pt x="2996985" y="0"/>
                </a:lnTo>
                <a:lnTo>
                  <a:pt x="2996985" y="777406"/>
                </a:lnTo>
                <a:lnTo>
                  <a:pt x="0" y="777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9" b="-2569"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228923"/>
              </p:ext>
            </p:extLst>
          </p:nvPr>
        </p:nvGraphicFramePr>
        <p:xfrm>
          <a:off x="2027803" y="785130"/>
          <a:ext cx="8121676" cy="5581726"/>
        </p:xfrm>
        <a:graphic>
          <a:graphicData uri="http://schemas.openxmlformats.org/drawingml/2006/table">
            <a:tbl>
              <a:tblPr/>
              <a:tblGrid>
                <a:gridCol w="16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2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6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16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600" b="1" spc="25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SL. NO.</a:t>
                      </a:r>
                      <a:endParaRPr lang="en-US" sz="1600"/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600" b="1" spc="25" dirty="0">
                          <a:solidFill>
                            <a:srgbClr val="000000"/>
                          </a:solidFill>
                          <a:latin typeface="TT Rounds Condensed Bold"/>
                          <a:ea typeface="TT Rounds Condensed Bold"/>
                          <a:cs typeface="TT Rounds Condensed Bold"/>
                          <a:sym typeface="TT Rounds Condensed Bold"/>
                        </a:rPr>
                        <a:t>TOPICS</a:t>
                      </a:r>
                      <a:endParaRPr lang="en-US" sz="1600" dirty="0"/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600" b="1" spc="25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PAGES </a:t>
                      </a:r>
                      <a:endParaRPr lang="en-US" sz="1600"/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1.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3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2.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Types of Ambiguity in Hindi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4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3.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Overview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5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Approach &amp; Pipeline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6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704809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T Rounds Condensed"/>
                        </a:rPr>
                        <a:t>5.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Approach &amp; Pipeline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7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Formatting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800" dirty="0"/>
                        <a:t>8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983512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7.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Model: Qwen2.5-0.5B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9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8.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Parameter Efficient Fine-Tuning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10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9.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Configuration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11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10.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Results &amp; Evaluation 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12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D24B-2C24-F44A-134F-D4CAB2A1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8397AF4-0D20-F740-C10B-962310392915}"/>
              </a:ext>
            </a:extLst>
          </p:cNvPr>
          <p:cNvSpPr txBox="1"/>
          <p:nvPr/>
        </p:nvSpPr>
        <p:spPr>
          <a:xfrm>
            <a:off x="8138040" y="6387000"/>
            <a:ext cx="201144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0"/>
              </a:lnSpc>
            </a:pPr>
            <a:r>
              <a:rPr lang="en-US" sz="1200" spc="11">
                <a:solidFill>
                  <a:srgbClr val="8B8B8B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2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F6ED4B1-9E66-657B-7B88-48239C576CF2}"/>
              </a:ext>
            </a:extLst>
          </p:cNvPr>
          <p:cNvGrpSpPr/>
          <p:nvPr/>
        </p:nvGrpSpPr>
        <p:grpSpPr>
          <a:xfrm>
            <a:off x="1504920" y="285480"/>
            <a:ext cx="9182160" cy="39960"/>
            <a:chOff x="0" y="0"/>
            <a:chExt cx="18364320" cy="7992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7C5309B-1991-44EE-D741-828317E8E9DD}"/>
                </a:ext>
              </a:extLst>
            </p:cNvPr>
            <p:cNvSpPr/>
            <p:nvPr/>
          </p:nvSpPr>
          <p:spPr>
            <a:xfrm>
              <a:off x="38100" y="0"/>
              <a:ext cx="18288127" cy="79883"/>
            </a:xfrm>
            <a:custGeom>
              <a:avLst/>
              <a:gdLst/>
              <a:ahLst/>
              <a:cxnLst/>
              <a:rect l="l" t="t" r="r" b="b"/>
              <a:pathLst>
                <a:path w="18288127" h="79883">
                  <a:moveTo>
                    <a:pt x="127" y="0"/>
                  </a:moveTo>
                  <a:lnTo>
                    <a:pt x="18288127" y="3556"/>
                  </a:lnTo>
                  <a:lnTo>
                    <a:pt x="18288127" y="79883"/>
                  </a:lnTo>
                  <a:lnTo>
                    <a:pt x="0" y="76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EE9490F-3C20-25AD-CC40-E4C93059FE34}"/>
              </a:ext>
            </a:extLst>
          </p:cNvPr>
          <p:cNvGrpSpPr/>
          <p:nvPr/>
        </p:nvGrpSpPr>
        <p:grpSpPr>
          <a:xfrm>
            <a:off x="1504920" y="6457680"/>
            <a:ext cx="9182160" cy="39960"/>
            <a:chOff x="0" y="0"/>
            <a:chExt cx="18364320" cy="799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BB3BD1-7449-6D46-552E-A5BA6725A304}"/>
                </a:ext>
              </a:extLst>
            </p:cNvPr>
            <p:cNvSpPr/>
            <p:nvPr/>
          </p:nvSpPr>
          <p:spPr>
            <a:xfrm>
              <a:off x="38100" y="0"/>
              <a:ext cx="18288127" cy="79883"/>
            </a:xfrm>
            <a:custGeom>
              <a:avLst/>
              <a:gdLst/>
              <a:ahLst/>
              <a:cxnLst/>
              <a:rect l="l" t="t" r="r" b="b"/>
              <a:pathLst>
                <a:path w="18288127" h="79883">
                  <a:moveTo>
                    <a:pt x="127" y="0"/>
                  </a:moveTo>
                  <a:lnTo>
                    <a:pt x="18288127" y="3556"/>
                  </a:lnTo>
                  <a:lnTo>
                    <a:pt x="18288127" y="79883"/>
                  </a:lnTo>
                  <a:lnTo>
                    <a:pt x="0" y="76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C710D98-4EDF-BDBE-5EA6-9CCBBA855006}"/>
              </a:ext>
            </a:extLst>
          </p:cNvPr>
          <p:cNvGrpSpPr/>
          <p:nvPr/>
        </p:nvGrpSpPr>
        <p:grpSpPr>
          <a:xfrm>
            <a:off x="1524000" y="6492960"/>
            <a:ext cx="9143640" cy="364680"/>
            <a:chOff x="0" y="0"/>
            <a:chExt cx="18287280" cy="72936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400C987-1427-881C-F887-5503254414AC}"/>
                </a:ext>
              </a:extLst>
            </p:cNvPr>
            <p:cNvSpPr/>
            <p:nvPr/>
          </p:nvSpPr>
          <p:spPr>
            <a:xfrm>
              <a:off x="0" y="0"/>
              <a:ext cx="18287237" cy="729361"/>
            </a:xfrm>
            <a:custGeom>
              <a:avLst/>
              <a:gdLst/>
              <a:ahLst/>
              <a:cxnLst/>
              <a:rect l="l" t="t" r="r" b="b"/>
              <a:pathLst>
                <a:path w="18287237" h="729361">
                  <a:moveTo>
                    <a:pt x="0" y="0"/>
                  </a:moveTo>
                  <a:lnTo>
                    <a:pt x="18287237" y="0"/>
                  </a:lnTo>
                  <a:lnTo>
                    <a:pt x="18287237" y="729361"/>
                  </a:lnTo>
                  <a:lnTo>
                    <a:pt x="0" y="729361"/>
                  </a:lnTo>
                  <a:close/>
                </a:path>
              </a:pathLst>
            </a:custGeom>
            <a:solidFill>
              <a:srgbClr val="D7E4B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B986382-A064-D2FE-864F-31C5A6C3CFE3}"/>
                </a:ext>
              </a:extLst>
            </p:cNvPr>
            <p:cNvSpPr txBox="1"/>
            <p:nvPr/>
          </p:nvSpPr>
          <p:spPr>
            <a:xfrm>
              <a:off x="0" y="0"/>
              <a:ext cx="18287280" cy="72936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 spc="11">
                  <a:solidFill>
                    <a:srgbClr val="8B8B8B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Department of AI&amp;DS</a:t>
              </a:r>
            </a:p>
            <a:p>
              <a:pPr>
                <a:lnSpc>
                  <a:spcPts val="1440"/>
                </a:lnSpc>
              </a:pPr>
              <a:r>
                <a:rPr lang="en-US" sz="1200" b="1" spc="11">
                  <a:solidFill>
                    <a:srgbClr val="8B8B8B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Sikkim Manipal Institute of Technology,  SMU</a:t>
              </a: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A9F1F1A-2142-8724-5ED5-1EDB33031025}"/>
              </a:ext>
            </a:extLst>
          </p:cNvPr>
          <p:cNvSpPr txBox="1"/>
          <p:nvPr/>
        </p:nvSpPr>
        <p:spPr>
          <a:xfrm>
            <a:off x="1845521" y="289064"/>
            <a:ext cx="8500575" cy="127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0"/>
              </a:lnSpc>
            </a:pPr>
            <a:r>
              <a:rPr lang="en-US" sz="292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OF CONTENTS </a:t>
            </a:r>
          </a:p>
          <a:p>
            <a:pPr>
              <a:lnSpc>
                <a:spcPts val="5270"/>
              </a:lnSpc>
            </a:pPr>
            <a:endParaRPr lang="en-US" sz="2928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2438D31-4867-3008-8718-284F711C8448}"/>
              </a:ext>
            </a:extLst>
          </p:cNvPr>
          <p:cNvGrpSpPr/>
          <p:nvPr/>
        </p:nvGrpSpPr>
        <p:grpSpPr>
          <a:xfrm>
            <a:off x="1523970" y="5419"/>
            <a:ext cx="9156319" cy="285560"/>
            <a:chOff x="0" y="0"/>
            <a:chExt cx="18312637" cy="5711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DACB3DF-421F-5FAF-D83C-FE7596085842}"/>
                </a:ext>
              </a:extLst>
            </p:cNvPr>
            <p:cNvSpPr/>
            <p:nvPr/>
          </p:nvSpPr>
          <p:spPr>
            <a:xfrm>
              <a:off x="12700" y="12700"/>
              <a:ext cx="18287238" cy="478536"/>
            </a:xfrm>
            <a:custGeom>
              <a:avLst/>
              <a:gdLst/>
              <a:ahLst/>
              <a:cxnLst/>
              <a:rect l="l" t="t" r="r" b="b"/>
              <a:pathLst>
                <a:path w="18287237" h="545719">
                  <a:moveTo>
                    <a:pt x="0" y="0"/>
                  </a:moveTo>
                  <a:lnTo>
                    <a:pt x="18287237" y="0"/>
                  </a:lnTo>
                  <a:lnTo>
                    <a:pt x="18287237" y="545719"/>
                  </a:lnTo>
                  <a:lnTo>
                    <a:pt x="0" y="545719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/>
            <a:lstStyle/>
            <a:p>
              <a:r>
                <a:rPr lang="en-US" sz="12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Hindi Ambiguity Resolution using Large Language Models   </a:t>
              </a:r>
              <a:endParaRPr lang="en-US" sz="1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N" dirty="0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2D104FE-C112-656F-CEF6-9D03746A5315}"/>
                </a:ext>
              </a:extLst>
            </p:cNvPr>
            <p:cNvSpPr/>
            <p:nvPr/>
          </p:nvSpPr>
          <p:spPr>
            <a:xfrm>
              <a:off x="0" y="0"/>
              <a:ext cx="18312637" cy="571119"/>
            </a:xfrm>
            <a:custGeom>
              <a:avLst/>
              <a:gdLst/>
              <a:ahLst/>
              <a:cxnLst/>
              <a:rect l="l" t="t" r="r" b="b"/>
              <a:pathLst>
                <a:path w="18312637" h="571119">
                  <a:moveTo>
                    <a:pt x="12700" y="0"/>
                  </a:moveTo>
                  <a:lnTo>
                    <a:pt x="18299937" y="0"/>
                  </a:lnTo>
                  <a:cubicBezTo>
                    <a:pt x="18306923" y="0"/>
                    <a:pt x="18312637" y="5715"/>
                    <a:pt x="18312637" y="12700"/>
                  </a:cubicBezTo>
                  <a:lnTo>
                    <a:pt x="18312637" y="558419"/>
                  </a:lnTo>
                  <a:cubicBezTo>
                    <a:pt x="18312637" y="565404"/>
                    <a:pt x="18306923" y="571119"/>
                    <a:pt x="18299937" y="571119"/>
                  </a:cubicBezTo>
                  <a:lnTo>
                    <a:pt x="12700" y="571119"/>
                  </a:lnTo>
                  <a:cubicBezTo>
                    <a:pt x="5715" y="571119"/>
                    <a:pt x="0" y="565404"/>
                    <a:pt x="0" y="5584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58419"/>
                  </a:lnTo>
                  <a:lnTo>
                    <a:pt x="12700" y="558419"/>
                  </a:lnTo>
                  <a:lnTo>
                    <a:pt x="12700" y="545719"/>
                  </a:lnTo>
                  <a:lnTo>
                    <a:pt x="18299937" y="545719"/>
                  </a:lnTo>
                  <a:lnTo>
                    <a:pt x="18299937" y="558419"/>
                  </a:lnTo>
                  <a:lnTo>
                    <a:pt x="18287237" y="558419"/>
                  </a:lnTo>
                  <a:lnTo>
                    <a:pt x="18287237" y="12700"/>
                  </a:lnTo>
                  <a:lnTo>
                    <a:pt x="18299937" y="12700"/>
                  </a:lnTo>
                  <a:lnTo>
                    <a:pt x="1829993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AE5A21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2A8CD5F7-FBB9-F4FB-FFA5-6ADA0E1C10BD}"/>
              </a:ext>
            </a:extLst>
          </p:cNvPr>
          <p:cNvSpPr txBox="1"/>
          <p:nvPr/>
        </p:nvSpPr>
        <p:spPr>
          <a:xfrm>
            <a:off x="11868331" y="6512438"/>
            <a:ext cx="179766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2</a:t>
            </a:r>
          </a:p>
        </p:txBody>
      </p:sp>
      <p:sp>
        <p:nvSpPr>
          <p:cNvPr id="15" name="Freeform 15" descr="A black text on a white background  Description automatically generated">
            <a:extLst>
              <a:ext uri="{FF2B5EF4-FFF2-40B4-BE49-F238E27FC236}">
                <a16:creationId xmlns:a16="http://schemas.microsoft.com/office/drawing/2014/main" id="{E5EE3C09-09D8-A84A-DDFD-E16598F47E30}"/>
              </a:ext>
            </a:extLst>
          </p:cNvPr>
          <p:cNvSpPr/>
          <p:nvPr/>
        </p:nvSpPr>
        <p:spPr>
          <a:xfrm>
            <a:off x="9055566" y="6346711"/>
            <a:ext cx="1997990" cy="518271"/>
          </a:xfrm>
          <a:custGeom>
            <a:avLst/>
            <a:gdLst/>
            <a:ahLst/>
            <a:cxnLst/>
            <a:rect l="l" t="t" r="r" b="b"/>
            <a:pathLst>
              <a:path w="2996985" h="777406">
                <a:moveTo>
                  <a:pt x="0" y="0"/>
                </a:moveTo>
                <a:lnTo>
                  <a:pt x="2996985" y="0"/>
                </a:lnTo>
                <a:lnTo>
                  <a:pt x="2996985" y="777406"/>
                </a:lnTo>
                <a:lnTo>
                  <a:pt x="0" y="777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9" b="-2569"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55F44132-D94C-C304-2E77-86A07E5DC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216577"/>
              </p:ext>
            </p:extLst>
          </p:nvPr>
        </p:nvGraphicFramePr>
        <p:xfrm>
          <a:off x="2027803" y="1093720"/>
          <a:ext cx="8121676" cy="2588634"/>
        </p:xfrm>
        <a:graphic>
          <a:graphicData uri="http://schemas.openxmlformats.org/drawingml/2006/table">
            <a:tbl>
              <a:tblPr/>
              <a:tblGrid>
                <a:gridCol w="16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2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6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16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600" b="1" spc="25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SL. NO.</a:t>
                      </a:r>
                      <a:endParaRPr lang="en-US" sz="1600" dirty="0"/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600" b="1" spc="25" dirty="0">
                          <a:solidFill>
                            <a:srgbClr val="000000"/>
                          </a:solidFill>
                          <a:latin typeface="TT Rounds Condensed Bold"/>
                          <a:ea typeface="TT Rounds Condensed Bold"/>
                          <a:cs typeface="TT Rounds Condensed Bold"/>
                          <a:sym typeface="TT Rounds Condensed Bold"/>
                        </a:rPr>
                        <a:t>TOPICS</a:t>
                      </a:r>
                      <a:endParaRPr lang="en-US" sz="1600" dirty="0"/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600" b="1" spc="25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PAGES </a:t>
                      </a:r>
                      <a:endParaRPr lang="en-US" sz="1600"/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11.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Results &amp; Model Output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13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12.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Key Observations &amp; Challenges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14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371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spc="25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T Rounds Condensed"/>
                          <a:cs typeface="Times New Roman" panose="02020603050405020304" pitchFamily="18" charset="0"/>
                          <a:sym typeface="TT Rounds Condensed"/>
                        </a:rPr>
                        <a:t>13.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Applications &amp; Future Scope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15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36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References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1600" dirty="0"/>
                        <a:t>16</a:t>
                      </a:r>
                    </a:p>
                  </a:txBody>
                  <a:tcPr marL="60960" marR="60960" marT="60960" marB="609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704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32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8077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CAE56D3-85CA-415A-99EE-475DAD3E75FB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/>
          </a:p>
        </p:txBody>
      </p:sp>
      <p:sp>
        <p:nvSpPr>
          <p:cNvPr id="104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US" sz="1200"/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lang="en-US" sz="1200"/>
          </a:p>
        </p:txBody>
      </p:sp>
      <p:sp>
        <p:nvSpPr>
          <p:cNvPr id="108" name="CustomShape 5"/>
          <p:cNvSpPr/>
          <p:nvPr/>
        </p:nvSpPr>
        <p:spPr>
          <a:xfrm>
            <a:off x="651407" y="210840"/>
            <a:ext cx="10970322" cy="62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		  Introduction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Natural Language Processing, ambiguity occurs when a word or sentence has multiple possible meanings.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 resolve this through context, but machines struggle to identify the correct interpretation.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Hindi is especially challenging due to its morphologically rich structure — the same word can mean different things in different contexts.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Fine-tune a small transformer model that can identify the correct meaning of ambiguous Hindi words based on context.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→ Hindi sentence + ambiguous word + ambiguity type.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→ Correct meaning of that word in the given context.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stomShape 5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Hindi Ambiguity Resolution using Large Language Models</a:t>
            </a:r>
            <a:r>
              <a:rPr lang="en-IN" sz="1200" i="1" dirty="0">
                <a:solidFill>
                  <a:srgbClr val="000000"/>
                </a:solidFill>
                <a:latin typeface="Calibri"/>
              </a:rPr>
              <a:t>			</a:t>
            </a:r>
            <a:endParaRPr dirty="0"/>
          </a:p>
        </p:txBody>
      </p:sp>
      <p:pic>
        <p:nvPicPr>
          <p:cNvPr id="2" name="Picture 1" descr="A black text on a white background  Description automatically generated">
            <a:extLst>
              <a:ext uri="{FF2B5EF4-FFF2-40B4-BE49-F238E27FC236}">
                <a16:creationId xmlns:a16="http://schemas.microsoft.com/office/drawing/2014/main" id="{B74944C4-34B5-0517-56A8-90E97EED1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6" name="TextBox 14">
            <a:extLst>
              <a:ext uri="{FF2B5EF4-FFF2-40B4-BE49-F238E27FC236}">
                <a16:creationId xmlns:a16="http://schemas.microsoft.com/office/drawing/2014/main" id="{FD5B8FD3-11F8-D2E9-E5A3-886A2F79AA7C}"/>
              </a:ext>
            </a:extLst>
          </p:cNvPr>
          <p:cNvSpPr txBox="1"/>
          <p:nvPr/>
        </p:nvSpPr>
        <p:spPr>
          <a:xfrm>
            <a:off x="11847389" y="6527250"/>
            <a:ext cx="179766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CC735-EAA8-6B19-AE00-2D75AF86C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365" y="3684639"/>
            <a:ext cx="4994789" cy="1194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2E19D0-D12A-2D3A-3EEB-260AA6CF9F70}"/>
              </a:ext>
            </a:extLst>
          </p:cNvPr>
          <p:cNvSpPr txBox="1"/>
          <p:nvPr/>
        </p:nvSpPr>
        <p:spPr>
          <a:xfrm>
            <a:off x="8077080" y="4908131"/>
            <a:ext cx="240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 1: Time Ambiguity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1078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62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Types of Ambiguity in Hindi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Hindi ambiguity falls into 10 distinct categories based on the nature of the confusion.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Time Ambiguity — कल means yesterday OR tomorrow depending on context.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Morphological — सोना means sleep OR gold (same spelling, different meaning).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Pronoun — वह गया — reference of subject is unclear without context.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Sarcasm — बहुत होशियार हो — can be genuine praise OR sarcastic remark.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Idiom — पानी में मछली — literal OR idiomatic meaning.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Hinglish — mood off है — code-switched Hindi-English with domain-specific meaning.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Also covered: Syntactic, Pragmatic, Place, and Object-Action ambiguity.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 dirty="0"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E309CA65-E17A-85B3-25AF-4B0F99A4F67C}"/>
              </a:ext>
            </a:extLst>
          </p:cNvPr>
          <p:cNvSpPr txBox="1"/>
          <p:nvPr/>
        </p:nvSpPr>
        <p:spPr>
          <a:xfrm>
            <a:off x="11847871" y="6492960"/>
            <a:ext cx="179284" cy="272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38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	  Dataset Overview</a:t>
            </a:r>
            <a:endParaRPr lang="en-IN" sz="1600" dirty="0">
              <a:latin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A custom annotated dataset of 1000 Hindi sentences was created for this project.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391 unique ambiguous words are covered across 10 ambiguity categories.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Each entry contains: sentence, ambiguous word, correct meaning, and category.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Category distribution: Time (133), Object-Action (112), Hinglish (110), Idiom (108), Morphological (101).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Remaining: Syntactic (96), Pragmatic (90), Pronoun (85), Sarcasm (85), Place (80).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Language: Hindi | Source: custom_annotated | Total columns: 7.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Train-Test split: 900 training samples and 100 test samples (90-10 ratio).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5FC117C-DA67-4C8C-550E-714C85D80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144982"/>
              </p:ext>
            </p:extLst>
          </p:nvPr>
        </p:nvGraphicFramePr>
        <p:xfrm>
          <a:off x="1130710" y="3559277"/>
          <a:ext cx="10146890" cy="2901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14">
            <a:extLst>
              <a:ext uri="{FF2B5EF4-FFF2-40B4-BE49-F238E27FC236}">
                <a16:creationId xmlns:a16="http://schemas.microsoft.com/office/drawing/2014/main" id="{CC10857F-5CCC-3F07-CF96-0A2798C5E2D5}"/>
              </a:ext>
            </a:extLst>
          </p:cNvPr>
          <p:cNvSpPr txBox="1"/>
          <p:nvPr/>
        </p:nvSpPr>
        <p:spPr>
          <a:xfrm>
            <a:off x="11847389" y="6527250"/>
            <a:ext cx="179766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36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Proposed Approach &amp; Pipeline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Approach: Supervised Fine-Tuning (SFT) on a pre-trained Large Language Model.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Raw CSV dataset is converted into Instruction-Input-Response format (Alpaca format).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LoRA adapters are applied — only a small fraction of model parameters are trained.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Pipeline: Raw CSV Dataset → Instruction Formatting → Train/Test Split (900/100).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→ Load Qwen2.5-0.5B Base Model → Apply LoRA Adapters → SFT Training (10 Epochs).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→ Fine-tuned Model saved → Inference on test sentences.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8E5E0-F779-4BBD-4CBD-0272C6124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889" y="1123444"/>
            <a:ext cx="3421627" cy="4321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1D433A-6EA0-522D-A29A-1BC2F6BE49CD}"/>
              </a:ext>
            </a:extLst>
          </p:cNvPr>
          <p:cNvSpPr txBox="1"/>
          <p:nvPr/>
        </p:nvSpPr>
        <p:spPr>
          <a:xfrm>
            <a:off x="8848672" y="5362245"/>
            <a:ext cx="3146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 : Pipeline of Hindi Ambiguity Resolution using Large Language Models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92B6CC81-AFBD-058A-A066-B2C8E0E4E143}"/>
              </a:ext>
            </a:extLst>
          </p:cNvPr>
          <p:cNvSpPr txBox="1"/>
          <p:nvPr/>
        </p:nvSpPr>
        <p:spPr>
          <a:xfrm>
            <a:off x="11847389" y="6527250"/>
            <a:ext cx="179766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36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	  Data Formatting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Each row of the CSV was converted into a structured prompt using the Alpaca instruction format.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This format teaches the model: given a sentence and ambiguous word → predict the correct meaning.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A total of 1000 such prompts were automatically generated from the dataset.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Format: Instruction: (task description) |  Input: (sentence + word + type) | Response: (meaning).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Example — Sentence: कल वह बाज़ार गया था। | Word: "कल" | Type: time context → Response: means yesterday.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The category description was mapped to a human-readable string for each of the 10 types.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06F57E-4110-AD9E-8350-8BC867AD9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16" y="3627314"/>
            <a:ext cx="9669224" cy="2356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D6ED84-E0BA-7301-6249-5594CFD72BC2}"/>
              </a:ext>
            </a:extLst>
          </p:cNvPr>
          <p:cNvSpPr txBox="1"/>
          <p:nvPr/>
        </p:nvSpPr>
        <p:spPr>
          <a:xfrm>
            <a:off x="2576052" y="5984245"/>
            <a:ext cx="5604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Sample prompt(yesterday meaning)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0D79D443-9428-8FB3-21CB-6FB8B793E7B3}"/>
              </a:ext>
            </a:extLst>
          </p:cNvPr>
          <p:cNvSpPr txBox="1"/>
          <p:nvPr/>
        </p:nvSpPr>
        <p:spPr>
          <a:xfrm>
            <a:off x="11847389" y="6527250"/>
            <a:ext cx="179766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37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	  Model: Qwen2.5-0.5B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Model: Qwen/Qwen2.5-0.5B developed by Alibaba Cloud — available on HuggingFace.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Parameters: ~494 Million.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Architecture: Decoder-only Transformer (similar to GPT) — suitable for text generation tasks.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Loaded in float16 precision on a single GPU (cuda:0) for stable training.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Why Qwen2.5? — Strong multilingual support for Hindi and Hinglish text.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Open source and freely available — fits within Kaggle T4 GPU memory constraints.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Pre-trained on diverse multilingual data — strong base for Hindi fine-tuning.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92D4C8F3-A611-4DAA-FF69-FB723D6E5340}"/>
              </a:ext>
            </a:extLst>
          </p:cNvPr>
          <p:cNvSpPr txBox="1"/>
          <p:nvPr/>
        </p:nvSpPr>
        <p:spPr>
          <a:xfrm>
            <a:off x="11847389" y="6527250"/>
            <a:ext cx="179766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62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</a:t>
            </a:r>
            <a:r>
              <a:rPr lang="en-I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LoRA</a:t>
            </a: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 Parameter Efficient Fine-Tuning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LoRA (Low-Rank Adaptation) enables fine-tuning without updating all model weights.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Original model weights remain frozen — only small low-rank adapter matrices are trained.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Result: Only ~1-2% of total parameters were trained, keeping memory usage low.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Config used — Rank (r): 16 | Alpha: 32 | Dropout: 0.05 | Bias: none.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Target modules: q_proj, v_proj, k_proj, o_proj — all attention projection layers.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Comparison: Full Fine-Tuning trains 100% params (very high memory) vs LoRA trains ~1-2% (low memory).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LoRA achieves comparable performance to full fine-tuning in a fraction of the time.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C9FF53A6-92C0-E3B0-B25F-274DEFF4DD5B}"/>
              </a:ext>
            </a:extLst>
          </p:cNvPr>
          <p:cNvSpPr txBox="1"/>
          <p:nvPr/>
        </p:nvSpPr>
        <p:spPr>
          <a:xfrm>
            <a:off x="11847389" y="6527250"/>
            <a:ext cx="179766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62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Training Configuration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Base Model: Qwen/Qwen2.5-0.5B | Training Platform: Kaggle GPU T4 (single GPU).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Training Epochs: 10 | Batch Size per device: 2 | Gradient Accumulation Steps: 8.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Effective Batch Size: 16 (2 x 8) — simulates larger batch without extra memory.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Learning Rate: 2e-4 | LR Scheduler: Cosine | Warmup Ratio: 5%.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Precision: FP16 (float16) — reduces memory usage and speeds up training on T4.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Max Sequence Length: 256 tokens | Evaluation Strategy: every epoch.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Best model checkpoint saved automatically based on evaluation loss.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511782AF-D926-3228-7093-364B311D6CA5}"/>
              </a:ext>
            </a:extLst>
          </p:cNvPr>
          <p:cNvSpPr txBox="1"/>
          <p:nvPr/>
        </p:nvSpPr>
        <p:spPr>
          <a:xfrm>
            <a:off x="11769213" y="6492960"/>
            <a:ext cx="257942" cy="272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5B793-A199-B398-BF08-2B7952296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>
            <a:extLst>
              <a:ext uri="{FF2B5EF4-FFF2-40B4-BE49-F238E27FC236}">
                <a16:creationId xmlns:a16="http://schemas.microsoft.com/office/drawing/2014/main" id="{870731F7-C634-10D9-6824-0EEFC641D9EB}"/>
              </a:ext>
            </a:extLst>
          </p:cNvPr>
          <p:cNvSpPr/>
          <p:nvPr/>
        </p:nvSpPr>
        <p:spPr>
          <a:xfrm>
            <a:off x="651407" y="210840"/>
            <a:ext cx="10970322" cy="62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Results &amp; Evaluation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 loss decreased significantly from 1.097 in Epoch 1 to 0.293 by Epoch 10, representing a 73% reduction, which indicates strong learning progress during training.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validation loss also consistently decreased, from 0.589 to 0.395, showing stable performance improvement on unseen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were no signs of overfitting, as both training and validation losses decreased together throughout the training process.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 final accuracy of 56% on 50 test samples, which is a strong result for a 500M-parameter model applied to Hindi Word Sense Disambiguation (WSD).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results demonstrate that the model successfully learned context-based word sense disambiguation.</a:t>
            </a:r>
          </a:p>
        </p:txBody>
      </p:sp>
      <p:sp>
        <p:nvSpPr>
          <p:cNvPr id="10" name="TopBar">
            <a:extLst>
              <a:ext uri="{FF2B5EF4-FFF2-40B4-BE49-F238E27FC236}">
                <a16:creationId xmlns:a16="http://schemas.microsoft.com/office/drawing/2014/main" id="{2C04C2A0-6D07-EA87-27AE-EB8061B209B3}"/>
              </a:ext>
            </a:extLst>
          </p:cNvPr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>
            <a:extLst>
              <a:ext uri="{FF2B5EF4-FFF2-40B4-BE49-F238E27FC236}">
                <a16:creationId xmlns:a16="http://schemas.microsoft.com/office/drawing/2014/main" id="{2C4108A0-F2C0-9C69-251B-B29DFFC09C7F}"/>
              </a:ext>
            </a:extLst>
          </p:cNvPr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>
            <a:extLst>
              <a:ext uri="{FF2B5EF4-FFF2-40B4-BE49-F238E27FC236}">
                <a16:creationId xmlns:a16="http://schemas.microsoft.com/office/drawing/2014/main" id="{7FB207E9-BB12-AAB4-D4D0-4D6553CF4A7E}"/>
              </a:ext>
            </a:extLst>
          </p:cNvPr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>
            <a:extLst>
              <a:ext uri="{FF2B5EF4-FFF2-40B4-BE49-F238E27FC236}">
                <a16:creationId xmlns:a16="http://schemas.microsoft.com/office/drawing/2014/main" id="{7D4D3E32-BBCC-1EA8-A207-5599658C673E}"/>
              </a:ext>
            </a:extLst>
          </p:cNvPr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6CD5CD02-2816-1802-43C0-D6F59C879F51}"/>
              </a:ext>
            </a:extLst>
          </p:cNvPr>
          <p:cNvSpPr txBox="1"/>
          <p:nvPr/>
        </p:nvSpPr>
        <p:spPr>
          <a:xfrm>
            <a:off x="11788877" y="6492960"/>
            <a:ext cx="238278" cy="272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4DA8B-9BB9-9A5D-21AA-BF08F28D1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885" y="3921843"/>
            <a:ext cx="3534268" cy="2443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D9E229-E5F7-47A1-FC68-1AFCCDA0B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883" y="4189323"/>
            <a:ext cx="2686425" cy="8859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6E3947-0A62-918F-4666-FC3095B3C967}"/>
              </a:ext>
            </a:extLst>
          </p:cNvPr>
          <p:cNvSpPr txBox="1"/>
          <p:nvPr/>
        </p:nvSpPr>
        <p:spPr>
          <a:xfrm>
            <a:off x="8036501" y="5091186"/>
            <a:ext cx="1337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Result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92E9E6-6EB2-A8A1-3100-74025F740725}"/>
              </a:ext>
            </a:extLst>
          </p:cNvPr>
          <p:cNvSpPr txBox="1"/>
          <p:nvPr/>
        </p:nvSpPr>
        <p:spPr>
          <a:xfrm>
            <a:off x="4227691" y="5978618"/>
            <a:ext cx="2045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epoch vs loss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47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37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Results &amp; Model Output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</a:rPr>
              <a:t>The fine-tuned model was tested on 7 Hindi sentences covering multiple ambiguity types.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Result 1 — Sentence: कल वह बाज़ार गया था | Word: कल | Prediction: yesterday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Result 2 — Sentence: कल हम दिल्ली जाएंगे | Word: कल | Prediction: tomorrow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Result 3 — Sentence: उसके गले में सोने का हार था | Word: सोने | Prediction: gold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Result 4 — Sentence: हाँ, बहुत होशियार हो तुम | Word: होशियार | Prediction: sarcastic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Result 5 — Sentence: वह पानी में मछली की तरह है | Word: मछली | Prediction: idiomatic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Result 6 — Sentence: उसका mood बहुत off है आज | Word: mood | Prediction: code-switched 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56EDB-F09E-A5D5-140C-137D8BED4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07" y="4004560"/>
            <a:ext cx="5763429" cy="20976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BA5726-C961-E2D4-B2FE-34C1FB05B648}"/>
              </a:ext>
            </a:extLst>
          </p:cNvPr>
          <p:cNvSpPr txBox="1"/>
          <p:nvPr/>
        </p:nvSpPr>
        <p:spPr>
          <a:xfrm>
            <a:off x="5427407" y="6112930"/>
            <a:ext cx="3293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60480305-9C42-9D2D-0C7C-0E4F151B9023}"/>
              </a:ext>
            </a:extLst>
          </p:cNvPr>
          <p:cNvSpPr txBox="1"/>
          <p:nvPr/>
        </p:nvSpPr>
        <p:spPr>
          <a:xfrm>
            <a:off x="11769213" y="6567948"/>
            <a:ext cx="257942" cy="272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62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Key Observations &amp; Challenges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The model correctly distinguished कल as yesterday vs tomorrow based purely on sentence tense.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Hinglish sentences with mixed Hindi-English words were handled effectively by the model.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Training only ~1-2% of parameters via LoRA still produced meaningful disambiguation results.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A 500M parameter model is capable of context-aware word sense disambiguation in Hindi.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CHALLENGE 1 — Multi-GPU conflict: 4-bit quantization was incompatible with DataParallel; resolved by switching to single GPU (cuda:0) with float16.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CHALLENGE 2 — Dataset size: 1000 samples are limited for complex ambiguity types like sarcasm and pragmatics.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CHALLENGE 3 — Sarcasm and pragmatic ambiguity are the hardest; context is highly subtle and implicit.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BE562567-35E7-B3E8-F530-ABE51956639D}"/>
              </a:ext>
            </a:extLst>
          </p:cNvPr>
          <p:cNvSpPr txBox="1"/>
          <p:nvPr/>
        </p:nvSpPr>
        <p:spPr>
          <a:xfrm>
            <a:off x="11749548" y="6492960"/>
            <a:ext cx="277607" cy="272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62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Applications &amp; Future Scope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</a:rPr>
              <a:t>APPLICATIONS — Improving Hindi query understanding in search engines (Google, Bing).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Enhancing Hindi language support in virtual assistants like Alexa and Google Assistant.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Increasing accuracy in Hindi-to-English machine translation systems.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Sarcasm and sentiment detection in Hindi social media content and news platforms.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Interpreting patient queries accurately in Hindi-language healthcare chatbots.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</a:rPr>
              <a:t>FUTURE SCOPE — Expand dataset to 10,000+ annotated samples for better generalization.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Experiment with larger models (Qwen2.5-1.5B), extend to Bengali, Tamil, Marathi, and deploy a real-time FastAPI inference service.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75569C36-4CD4-EA3C-8DC2-25331394AD06}"/>
              </a:ext>
            </a:extLst>
          </p:cNvPr>
          <p:cNvSpPr txBox="1"/>
          <p:nvPr/>
        </p:nvSpPr>
        <p:spPr>
          <a:xfrm>
            <a:off x="11749548" y="6492960"/>
            <a:ext cx="277607" cy="272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Shape"/>
          <p:cNvSpPr/>
          <p:nvPr/>
        </p:nvSpPr>
        <p:spPr>
          <a:xfrm>
            <a:off x="651407" y="210840"/>
            <a:ext cx="10970322" cy="62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		  References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Qwen Team (2024) — Qwen2.5 Technical Report — </a:t>
            </a:r>
            <a:r>
              <a:rPr lang="en-US" sz="1600" dirty="0">
                <a:latin typeface="Times New Roman" panose="02020603050405020304" pitchFamily="18" charset="0"/>
                <a:hlinkClick r:id="rId2"/>
              </a:rPr>
              <a:t>https://huggingface.co/Qwen/Qwen2.5-0.5B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</a:rPr>
              <a:t>HuggingFace</a:t>
            </a:r>
            <a:r>
              <a:rPr lang="en-US" sz="1600" dirty="0">
                <a:latin typeface="Times New Roman" panose="02020603050405020304" pitchFamily="18" charset="0"/>
              </a:rPr>
              <a:t> PEFT Library — Parameter-Efficient Fine-Tuning — </a:t>
            </a:r>
            <a:r>
              <a:rPr lang="en-US" sz="1600" dirty="0">
                <a:latin typeface="Times New Roman" panose="02020603050405020304" pitchFamily="18" charset="0"/>
                <a:hlinkClick r:id="rId3"/>
              </a:rPr>
              <a:t>https://github.com/huggingface/peft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TRL SFTTrainer Documentation — Supervised Fine-Tuning — </a:t>
            </a:r>
            <a:r>
              <a:rPr lang="en-US" sz="1600" dirty="0">
                <a:latin typeface="Times New Roman" panose="02020603050405020304" pitchFamily="18" charset="0"/>
                <a:hlinkClick r:id="rId4"/>
              </a:rPr>
              <a:t>https://github.com/huggingface/trl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Project GitHub Repository — </a:t>
            </a:r>
            <a:r>
              <a:rPr lang="en-US" sz="1600" dirty="0">
                <a:latin typeface="Times New Roman" panose="02020603050405020304" pitchFamily="18" charset="0"/>
                <a:hlinkClick r:id="rId5"/>
              </a:rPr>
              <a:t>https://github.com/ayushanand1009/hindi-ambiguity-resolution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</a:rPr>
              <a:t>Dataset — Custom Annotated, 1000 Hindi Sentences, 10 Ambiguity Categories, 391 Unique Words.</a:t>
            </a:r>
          </a:p>
        </p:txBody>
      </p:sp>
      <p:sp>
        <p:nvSpPr>
          <p:cNvPr id="10" name="TopBar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Hindi Ambiguity Resolution using Large Language Models</a:t>
            </a:r>
            <a:endParaRPr dirty="0"/>
          </a:p>
        </p:txBody>
      </p:sp>
      <p:sp>
        <p:nvSpPr>
          <p:cNvPr id="104" name="TopLine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BottomLine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6" name="FooterBar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705B5B65-6912-9810-F141-113D402330E3}"/>
              </a:ext>
            </a:extLst>
          </p:cNvPr>
          <p:cNvSpPr txBox="1"/>
          <p:nvPr/>
        </p:nvSpPr>
        <p:spPr>
          <a:xfrm>
            <a:off x="11769213" y="6492960"/>
            <a:ext cx="257942" cy="272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17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2030</Words>
  <Application>Microsoft Office PowerPoint</Application>
  <PresentationFormat>Widescreen</PresentationFormat>
  <Paragraphs>251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Times New Roman Bold</vt:lpstr>
      <vt:lpstr>TT Rounds Condensed</vt:lpstr>
      <vt:lpstr>TT Rounds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Sital Sharma</dc:creator>
  <cp:lastModifiedBy>Ayush Anand</cp:lastModifiedBy>
  <cp:revision>5</cp:revision>
  <dcterms:created xsi:type="dcterms:W3CDTF">2023-11-30T04:50:30Z</dcterms:created>
  <dcterms:modified xsi:type="dcterms:W3CDTF">2026-04-22T10:14:38Z</dcterms:modified>
</cp:coreProperties>
</file>